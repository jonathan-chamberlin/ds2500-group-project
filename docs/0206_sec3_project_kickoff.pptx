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80"/>
    <a:srgbClr val="0000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58"/>
    <p:restoredTop sz="78438"/>
  </p:normalViewPr>
  <p:slideViewPr>
    <p:cSldViewPr snapToGrid="0">
      <p:cViewPr varScale="1">
        <p:scale>
          <a:sx n="120" d="100"/>
          <a:sy n="120" d="100"/>
        </p:scale>
        <p:origin x="12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3FA9B9-8788-374D-8DBE-DB3974B225D5}" type="datetimeFigureOut">
              <a:rPr lang="en-US" smtClean="0"/>
              <a:t>2/6/26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756D83-5931-834A-9A7E-9B2B7DC61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223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756D83-5931-834A-9A7E-9B2B7DC6118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9242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0C88-6EC4-41FC-D931-FE066EAA6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432BB3-CAF2-0840-9FB3-F48E22C383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68A36-476C-568A-9D3B-3120D117C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44319-3FC4-6247-BF21-E9BD85FB8B65}" type="datetime1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35061-4887-8758-712C-0B0371BC2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EC7E0-DF9A-8C7A-9B09-B24159E40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9235-BEE1-DF41-ACB5-6F703C9B2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608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5B62F-08FE-E20F-B75A-8B1223C2E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F40B9-084F-FDF8-8B02-210DC8559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DBE9B-6455-C624-ABEF-37A1E7B47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01839-65B6-E049-9EF5-3E8C53BB2E69}" type="datetime1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54B46-0412-7FD2-E939-D5D0EEDA4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68571-0554-2122-B025-90183217B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9235-BEE1-DF41-ACB5-6F703C9B2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315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93AA2-2F02-8DDA-92DC-11BA699A9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69BB7E-18E2-854F-3291-C13CD3E7E9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7A1DB-AB1B-094F-12EF-6A75D8615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47256-2440-DC48-A322-0D162E3AAE0C}" type="datetime1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4490E-F61A-C241-F54A-106930081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F83D8-963A-4325-8990-203EA9FF3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9235-BEE1-DF41-ACB5-6F703C9B2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821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C95C1-CB55-C182-F015-8F9CF8BA7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D0451-8BB5-BE1D-8A31-B7359F4376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909A03-6435-BACC-AFFB-76C3C7F84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C57C09-D339-05C0-51AF-40BABCB39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3C795-C668-0B49-B41B-6691B8031686}" type="datetime1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015524-8EE4-8830-EC1D-9D900D9A1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4A61B7-EAFB-331F-D01B-41CA08B94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9235-BEE1-DF41-ACB5-6F703C9B2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201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3C5B8-26BD-307D-80FD-0CC1FDF9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E30DA3-33FC-4F4C-2D3E-AFDBDB758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512DD5-238B-6DCC-6F0E-10DBB8ECAB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D6938C-9583-8F8A-76D2-64726B9C01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A0AB3A-7557-D66E-8CE3-05A147F7F2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AF2371-97B7-A3FD-D82C-BF33D9EDD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5AF79-3B3C-F041-93E7-B5F4AAC75FC7}" type="datetime1">
              <a:rPr lang="en-US" smtClean="0"/>
              <a:t>2/6/26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01D02F-B7B6-8A9A-26DA-571556E97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D645C0-8C3A-1597-4CB5-AFCF615AE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9235-BEE1-DF41-ACB5-6F703C9B2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533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D1913-149F-02A8-10DF-155F16936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368A0B-3E36-E1A0-582E-4E9C6C320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07B6D-89D9-7A4A-9BDD-B7D12604DE30}" type="datetime1">
              <a:rPr lang="en-US" smtClean="0"/>
              <a:t>2/6/26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A1367E-2CF1-941E-740E-E66A0D2F7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A8EBA6-152A-216B-AB3F-32CB800F0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9235-BEE1-DF41-ACB5-6F703C9B2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016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E1937B-B5FC-62F3-B383-FA45FE0B4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7A83B-9EA7-444E-A542-D2978A876556}" type="datetime1">
              <a:rPr lang="en-US" smtClean="0"/>
              <a:t>2/6/26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DEB676-4D62-854D-014C-8494CA528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ADF910-8A41-F254-24CB-463DDC0F8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9235-BEE1-DF41-ACB5-6F703C9B2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935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6DACE-C102-278E-FC36-8919A55CB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8E852-D2F7-1C54-75FD-49DEFBB8A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64EEFF-83A0-612B-5771-D92AFD1D45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94DAA4-DFEA-026A-EE25-B2033D83B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1F7E8-0B9A-A24D-856B-742B77807775}" type="datetime1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9C5580-129F-595A-CF3E-DAB39F072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A89FF9-4976-D62E-0993-792445B49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9235-BEE1-DF41-ACB5-6F703C9B2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96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D9AC9-4C24-87AD-433B-C1A08F7BF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8BA85-F699-5636-003A-EA536C44F1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0BF2C0-BF09-B9FD-E407-94212C1F09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E444F1-8EE3-5125-F665-ED5017E3C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88D22-374C-1440-A536-ECCA5581670D}" type="datetime1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975B66-8E96-1426-18C7-044518950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78A5B4-0BD8-5FD5-FD35-BC720E43E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9235-BEE1-DF41-ACB5-6F703C9B2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528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1C5DF-877A-5DAF-FFD9-296467F65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1C3DCF-4B11-40EF-0F0F-7A66DE64AB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8608C-09EE-9D52-545A-730D1856D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E0E6D-1FAB-DF4C-A26C-1CC91CB09392}" type="datetime1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95165-00D0-E283-D382-60EE8E255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302DE-A9A1-0D42-04D2-4805EDD5D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9235-BEE1-DF41-ACB5-6F703C9B2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77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525E32-11B6-91B7-CED7-6B5D4EAAB6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731895-036C-EA37-49D6-35A19447DE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FC163E-6651-76F8-000E-3F79DAF08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0D420-14CD-6445-B9CA-72325B65C33F}" type="datetime1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05933-C224-2792-C5D7-13D8B696B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B5052-645D-1D04-365A-F89F2420B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9235-BEE1-DF41-ACB5-6F703C9B2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650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3485D1-0ADB-197D-29B3-B6C752645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A004D8-E397-C61F-A0A0-8F66C6C4E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9CF767-0500-FBB7-10B5-AB8977CE72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6C88B-97EA-9A42-B440-535A37A2F3BE}" type="datetime1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6BD6B-C711-40B5-4FAC-B4A2DFC568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F5AD1-2527-88C0-AF19-29E60B1B8C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499235-BEE1-DF41-ACB5-6F703C9B2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961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0C05DC3C-00C3-9A5B-C478-1DB93EEC9B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2000"/>
                    </a14:imgEffect>
                  </a14:imgLayer>
                </a14:imgProps>
              </a:ext>
            </a:extLst>
          </a:blip>
          <a:srcRect l="93" r="93"/>
          <a:stretch/>
        </p:blipFill>
        <p:spPr bwMode="auto">
          <a:xfrm>
            <a:off x="0" y="788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1D2206-2AB2-9A7D-2CEF-85F3C954E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2220" y="376333"/>
            <a:ext cx="11627555" cy="5354647"/>
          </a:xfrm>
        </p:spPr>
        <p:txBody>
          <a:bodyPr>
            <a:noAutofit/>
          </a:bodyPr>
          <a:lstStyle/>
          <a:p>
            <a:br>
              <a:rPr lang="en-US" sz="6600" b="1" dirty="0"/>
            </a:br>
            <a:r>
              <a:rPr lang="en-US" b="1" dirty="0"/>
              <a:t>DS2500</a:t>
            </a:r>
            <a:br>
              <a:rPr lang="en-US" b="1" dirty="0"/>
            </a:br>
            <a:r>
              <a:rPr lang="en-US" sz="5400" b="1" dirty="0"/>
              <a:t>Intermediate Programming with Data</a:t>
            </a:r>
            <a:br>
              <a:rPr lang="en-US" sz="4400" b="1" dirty="0"/>
            </a:br>
            <a:r>
              <a:rPr lang="en-US" sz="2800" b="1" dirty="0"/>
              <a:t>Section 3 </a:t>
            </a:r>
            <a:br>
              <a:rPr lang="en-US" sz="2800" b="1" dirty="0"/>
            </a:br>
            <a:br>
              <a:rPr lang="en-US" sz="4400" b="1" dirty="0"/>
            </a:br>
            <a:r>
              <a:rPr lang="en-US" sz="4400" b="1" dirty="0"/>
              <a:t>Lecture 9
</a:t>
            </a:r>
            <a:br>
              <a:rPr lang="en-US" sz="4400" b="1" dirty="0"/>
            </a:br>
            <a:r>
              <a:rPr lang="en-US" sz="2200" dirty="0"/>
              <a:t>Class Project Kickoff
</a:t>
            </a:r>
            <a:br>
              <a:rPr lang="en-US" sz="4400" b="1" dirty="0"/>
            </a:br>
            <a:br>
              <a:rPr lang="en-US" sz="4400" b="1" dirty="0"/>
            </a:br>
            <a:r>
              <a:rPr lang="en-US" sz="2800" b="1" dirty="0"/>
              <a:t>2/6/2026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FC471D-8638-02C5-AB74-E153747CDF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8" y="5567207"/>
            <a:ext cx="9144000" cy="611373"/>
          </a:xfrm>
        </p:spPr>
        <p:txBody>
          <a:bodyPr>
            <a:noAutofit/>
          </a:bodyPr>
          <a:lstStyle/>
          <a:p>
            <a:r>
              <a:rPr lang="en-US" sz="2000" b="1" dirty="0"/>
              <a:t>Benjamin M. Gyori, Ph.D.</a:t>
            </a:r>
          </a:p>
          <a:p>
            <a:r>
              <a:rPr lang="en-US" sz="2000" dirty="0"/>
              <a:t>Northeastern University</a:t>
            </a:r>
          </a:p>
        </p:txBody>
      </p:sp>
    </p:spTree>
    <p:extLst>
      <p:ext uri="{BB962C8B-B14F-4D97-AF65-F5344CB8AC3E}">
        <p14:creationId xmlns:p14="http://schemas.microsoft.com/office/powerpoint/2010/main" val="3755580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Class Project: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7688" y="1700000"/>
            <a:ext cx="100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har char="•"/>
            </a:pPr>
            <a:r>
              <a:rPr sz="2400" dirty="0">
                <a:latin typeface="Calibri"/>
              </a:rPr>
              <a:t>Your chance to do real data science on a topic you care about</a:t>
            </a:r>
          </a:p>
          <a:p>
            <a:pPr marL="457200" indent="-457200">
              <a:buChar char="•"/>
            </a:pPr>
            <a:r>
              <a:rPr sz="2400" dirty="0">
                <a:latin typeface="Calibri"/>
              </a:rPr>
              <a:t>End-to-end project: from raw data to insights and conclusions</a:t>
            </a:r>
          </a:p>
          <a:p>
            <a:pPr marL="457200" indent="-457200">
              <a:buChar char="•"/>
            </a:pPr>
            <a:r>
              <a:rPr sz="2400" dirty="0">
                <a:latin typeface="Calibri"/>
              </a:rPr>
              <a:t>Apply everything you've learned this semester - and more</a:t>
            </a:r>
          </a:p>
          <a:p>
            <a:pPr marL="457200" indent="-457200">
              <a:buChar char="•"/>
            </a:pPr>
            <a:r>
              <a:rPr sz="2400" dirty="0">
                <a:latin typeface="Calibri"/>
              </a:rPr>
              <a:t>Work collaboratively in teams to tackle a meaningful problem</a:t>
            </a:r>
          </a:p>
          <a:p>
            <a:pPr marL="457200" indent="-457200">
              <a:buChar char="•"/>
            </a:pPr>
            <a:r>
              <a:rPr sz="2400" dirty="0">
                <a:latin typeface="Calibri"/>
              </a:rPr>
              <a:t>Tell the story of your data - what did you discover and why does it matter?</a:t>
            </a:r>
          </a:p>
          <a:p>
            <a:pPr marL="457200" indent="-457200">
              <a:buChar char="•"/>
            </a:pPr>
            <a:r>
              <a:rPr sz="2400" dirty="0">
                <a:latin typeface="Calibri"/>
              </a:rPr>
              <a:t>This is the capstone experience of DS2500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7688" y="1700000"/>
            <a:ext cx="100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har char="•"/>
            </a:pPr>
            <a:r>
              <a:rPr sz="2400">
                <a:latin typeface="Calibri"/>
              </a:rPr>
              <a:t>Teams of 2-4 students (same lecture section)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We expect a substantive project incorporating contributions from all teammates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Each member should take on a distinct hypothesis-based analysis task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Example: collaborate on data acquisition/cleaning, then each person investigates at least one question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All team members responsible for arranging collaboration and meetings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All team members must be present and participate in the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Scope &amp; Expectations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7688" y="1700000"/>
            <a:ext cx="100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har char="•"/>
            </a:pPr>
            <a:r>
              <a:rPr sz="2400">
                <a:latin typeface="Calibri"/>
              </a:rPr>
              <a:t>Roughly twice as large/complex as your DS2001 or Fundies project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Must identify a real, substantial dataset - ideally one that interests you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Ethical standards: data collection must be ethical, final report must address bias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All sources and datasets must be cited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Discuss ideas with instructors and TAs in lab or office hours - we encourage it!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Grading &amp;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7688" y="1700000"/>
            <a:ext cx="100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har char="•"/>
            </a:pPr>
            <a:r>
              <a:rPr sz="2400">
                <a:latin typeface="Calibri"/>
              </a:rPr>
              <a:t>Total: 2,600 points across 5 milestones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Group grade based on all milestones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Individual grade may be adjusted based on peer evaluations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Peer feedback required from every member (failure to submit = 50% deduction)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Non-contributing members: contact Deahan and Ben early, don't wait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Optional extra credit: individual reflection after peer feedback (up to 100 pts)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Dates &amp; Deliverables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376948"/>
              </p:ext>
            </p:extLst>
          </p:nvPr>
        </p:nvGraphicFramePr>
        <p:xfrm>
          <a:off x="1027688" y="1700000"/>
          <a:ext cx="10000000" cy="3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00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Milestone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Date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Points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Kickoff lecture (in-class)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rPr dirty="0"/>
                        <a:t>2/6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rPr lang="en-US" dirty="0"/>
                        <a:t>Kickoff lab (in-class)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rPr lang="en-US" dirty="0"/>
                        <a:t>2/11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rPr lang="en-US" dirty="0"/>
                        <a:t>-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rPr lang="en-US" dirty="0"/>
                        <a:t>-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2648189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rPr dirty="0"/>
                        <a:t>M1: Team formation &amp; 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2/20, 11:59pm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rPr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M2: Proposal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3/10, 11:59pm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520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rPr dirty="0"/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M3: Progress 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3/31, 11:59pm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rPr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M4: Presentation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rPr dirty="0"/>
                        <a:t>4/13 slides; 4/14 &amp; 4/17 present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520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rPr dirty="0"/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M5: Final report &amp; deliverables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4/21, 11:59pm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1,040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rPr dirty="0"/>
                        <a:t>40%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Peer evaluations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4/22, 11:59pm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rPr lang="en-US" dirty="0"/>
                        <a:t>Required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rPr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Individual reflection (optional)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4/24, 11:59pm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rPr lang="en-US" dirty="0"/>
                        <a:t>Extra credit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rPr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 a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7688" y="1700000"/>
            <a:ext cx="10000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har char="•"/>
            </a:pPr>
            <a:r>
              <a:rPr sz="2400" dirty="0">
                <a:latin typeface="Calibri"/>
              </a:rPr>
              <a:t>Must use real, substantial data</a:t>
            </a:r>
          </a:p>
          <a:p>
            <a:pPr marL="457200" indent="-457200">
              <a:buChar char="•"/>
            </a:pPr>
            <a:r>
              <a:rPr sz="2400" dirty="0">
                <a:latin typeface="Calibri"/>
              </a:rPr>
              <a:t>Encouraged: APIs, web scraping, combining multiple sources</a:t>
            </a:r>
          </a:p>
          <a:p>
            <a:pPr marL="457200" indent="-457200">
              <a:buChar char="•"/>
            </a:pPr>
            <a:r>
              <a:rPr sz="2400" dirty="0">
                <a:latin typeface="Calibri"/>
              </a:rPr>
              <a:t>The more innovative the data acquisition, the more unique your project</a:t>
            </a:r>
          </a:p>
          <a:p>
            <a:pPr marL="457200" indent="-457200">
              <a:buChar char="•"/>
            </a:pPr>
            <a:r>
              <a:rPr sz="2400" dirty="0">
                <a:latin typeface="Calibri"/>
              </a:rPr>
              <a:t>Recommended sources:</a:t>
            </a:r>
            <a:endParaRPr lang="en-US" sz="2400" dirty="0">
              <a:latin typeface="Calibri"/>
            </a:endParaRPr>
          </a:p>
          <a:p>
            <a:pPr marL="914400" lvl="1" indent="-457200">
              <a:buChar char="•"/>
            </a:pPr>
            <a:r>
              <a:rPr sz="2400" dirty="0">
                <a:latin typeface="Calibri"/>
              </a:rPr>
              <a:t>TidyTuesday, UCI ML Repository (</a:t>
            </a:r>
            <a:r>
              <a:rPr sz="2400" dirty="0" err="1">
                <a:latin typeface="Calibri"/>
              </a:rPr>
              <a:t>archive.ics.uci.edu</a:t>
            </a:r>
            <a:r>
              <a:rPr sz="2400" dirty="0">
                <a:latin typeface="Calibri"/>
              </a:rPr>
              <a:t>)</a:t>
            </a:r>
            <a:endParaRPr lang="en-US" sz="2400" dirty="0">
              <a:latin typeface="Calibri"/>
            </a:endParaRPr>
          </a:p>
          <a:p>
            <a:pPr marL="914400" lvl="1" indent="-457200">
              <a:buChar char="•"/>
            </a:pPr>
            <a:r>
              <a:rPr sz="2400" dirty="0">
                <a:latin typeface="Calibri"/>
              </a:rPr>
              <a:t>CDC, Census, World Bank, </a:t>
            </a:r>
            <a:r>
              <a:rPr sz="2400" dirty="0" err="1">
                <a:latin typeface="Calibri"/>
              </a:rPr>
              <a:t>data.gov</a:t>
            </a:r>
            <a:r>
              <a:rPr sz="2400" dirty="0">
                <a:latin typeface="Calibri"/>
              </a:rPr>
              <a:t>, FiveThirtyEight</a:t>
            </a:r>
            <a:endParaRPr lang="en-US" sz="2400" dirty="0">
              <a:latin typeface="Calibri"/>
            </a:endParaRPr>
          </a:p>
          <a:p>
            <a:pPr marL="914400" lvl="1" indent="-457200">
              <a:buChar char="•"/>
            </a:pPr>
            <a:r>
              <a:rPr sz="2400" dirty="0">
                <a:latin typeface="Calibri"/>
              </a:rPr>
              <a:t>Search GitHub for datasets</a:t>
            </a:r>
          </a:p>
          <a:p>
            <a:pPr marL="457200" indent="-457200">
              <a:buChar char="•"/>
            </a:pPr>
            <a:r>
              <a:rPr sz="2400" dirty="0">
                <a:latin typeface="Calibri"/>
              </a:rPr>
              <a:t>Ensure ethical data collection standards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Not Kaggle?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7688" y="1700000"/>
            <a:ext cx="100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har char="•"/>
            </a:pPr>
            <a:r>
              <a:rPr sz="2400">
                <a:latin typeface="Calibri"/>
              </a:rPr>
              <a:t>We highly encourage looking for data from sources other than Kaggle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Kaggle datasets often have questionable provenance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May include synthetic (not real) data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Typically already pre-processed for a specific challenge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By finding your own raw data, your project is more likely to be unique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You can answer questions others haven't already tackled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Past Project: Wildfires in California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7688" y="1700000"/>
            <a:ext cx="100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har char="•"/>
            </a:pPr>
            <a:r>
              <a:rPr sz="2400">
                <a:latin typeface="Calibri"/>
              </a:rPr>
              <a:t>Explored causes of wildfires using data from 1921-2023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Analyzed factors: duration, fire intensity, frequency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Derived features: fire intensity, area-to-perimeter ratio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Methods: K-Nearest Neighbors and Random Forest classifiers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Grouped causes into 3 categories - accuracy improved from 20-30% to over 63%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Finding: wildfire frequency increasing, human-driven causes becoming dominant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Past Project: Eviction Rate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7688" y="1700000"/>
            <a:ext cx="100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har char="•"/>
            </a:pPr>
            <a:r>
              <a:rPr sz="2400">
                <a:latin typeface="Calibri"/>
              </a:rPr>
              <a:t>Investigated factors contributing to eviction rates across the US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Combined data from The Eviction Lab and US Counties Database (2015)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Explored: eviction rates vs race, income, poverty, rent, property values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Key finding: higher eviction rates in areas with greater % of Black renters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Income, poverty rate, rent showed inconsistent relationships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Conclusion: structural inequality may play larger role than financial indicators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Past Project: Diabetes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7688" y="1700000"/>
            <a:ext cx="100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har char="•"/>
            </a:pPr>
            <a:r>
              <a:rPr sz="2400">
                <a:latin typeface="Calibri"/>
              </a:rPr>
              <a:t>Examined links between diabetes and health/demographic factors in Iraqi patients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Dataset: 1,000 patients across 3 classes (diabetic, non-diabetic, pre-diabetic)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Primary method: K-Nearest Neighbors classifier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Results: lower HbA1c levels and younger ages associated with non-diabetic class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Also tested logistic regression - room for improvement in identifying positive cases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Highlighted need for further analysis of factor correlations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Past Project: NFL and Weather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7688" y="1700000"/>
            <a:ext cx="100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har char="•"/>
            </a:pPr>
            <a:r>
              <a:rPr sz="2400">
                <a:latin typeface="Calibri"/>
              </a:rPr>
              <a:t>Investigated how weather conditions influence NFL game results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Hypothesis: weather alone would not have major impact on outcomes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Methods: KNN classifier, multiple linear regression, feature scaling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Results: temperature alone was a poor predictor (accuracy 0.58, F1 0.25)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Marginal negative correlation: closer games in warmer weather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Takeaway: weather alone not a strong predictor - many other factors at play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More Topic Ideas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7688" y="1700000"/>
            <a:ext cx="100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har char="•"/>
            </a:pPr>
            <a:r>
              <a:rPr sz="2400">
                <a:latin typeface="Calibri"/>
              </a:rPr>
              <a:t>Stock market trend prediction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House price prediction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Medical diagnosis prediction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Movie recommendation system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Game/sport outcome prediction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Public transit usage trend analysis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Your project should be unique - these are just starting points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Best projects combine a unique dataset with interesting questions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 1: Team Formation &amp; Topic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7688" y="1699999"/>
            <a:ext cx="1032611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har char="•"/>
            </a:pPr>
            <a:r>
              <a:rPr sz="2400" dirty="0">
                <a:latin typeface="Calibri"/>
              </a:rPr>
              <a:t>Due: 2/20, 11:59pm | 260 pts (10%)</a:t>
            </a:r>
          </a:p>
          <a:p>
            <a:pPr marL="457200" indent="-457200">
              <a:buChar char="•"/>
            </a:pPr>
            <a:r>
              <a:rPr sz="2400" dirty="0">
                <a:latin typeface="Calibri"/>
              </a:rPr>
              <a:t>Find teammates (same section) or fill Google Form by 2/11 for assignment</a:t>
            </a:r>
          </a:p>
          <a:p>
            <a:pPr marL="457200" indent="-457200">
              <a:buChar char="•"/>
            </a:pPr>
            <a:r>
              <a:rPr sz="2400" dirty="0">
                <a:latin typeface="Calibri"/>
              </a:rPr>
              <a:t>Submit short report using provided template as PDF on Canvas</a:t>
            </a:r>
          </a:p>
          <a:p>
            <a:pPr marL="457200" indent="-457200">
              <a:buChar char="•"/>
            </a:pPr>
            <a:r>
              <a:rPr sz="2400" dirty="0">
                <a:latin typeface="Calibri"/>
              </a:rPr>
              <a:t>One team member submits for the group</a:t>
            </a:r>
          </a:p>
          <a:p>
            <a:pPr marL="457200" indent="-457200">
              <a:buChar char="•"/>
            </a:pPr>
            <a:r>
              <a:rPr sz="2400" dirty="0">
                <a:latin typeface="Calibri"/>
              </a:rPr>
              <a:t>Report covers: section, team members, problem/topic, why it matters, dataset(s)</a:t>
            </a:r>
          </a:p>
          <a:p>
            <a:pPr marL="457200" indent="-457200">
              <a:buChar char="•"/>
            </a:pPr>
            <a:r>
              <a:rPr sz="2400" dirty="0">
                <a:latin typeface="Calibri"/>
              </a:rPr>
              <a:t>Grading: problem statement (80), data sources (80), completeness (40), template (30), writing (30)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 2: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7688" y="1700000"/>
            <a:ext cx="100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har char="•"/>
            </a:pPr>
            <a:r>
              <a:rPr sz="2400">
                <a:latin typeface="Calibri"/>
              </a:rPr>
              <a:t>Due: 3/10, 11:59pm | 520 pts (20%)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1-2 pages, double-spaced, PDF on Canvas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Required sections: problem statement, data sources with ethical considerations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Also: analysis goals and methods, division of labor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Visit office hours to discuss ideas before submitting!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Grading: content quality (360), team planning (100), communication (60)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 3: Progress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7688" y="1700000"/>
            <a:ext cx="100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har char="•"/>
            </a:pPr>
            <a:r>
              <a:rPr sz="2400">
                <a:latin typeface="Calibri"/>
              </a:rPr>
              <a:t>Due: 3/31, 11:59pm | 260 pts (10%)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2-3 pages, double-spaced, PDF on Canvas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Required: progress summary with preliminary findings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Also: current challenges, team check-in, next steps, questions for TAs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Be honest about challenges - that is how we help you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Grading: progress assessment (210), planning &amp; team (30), communication (20)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 4: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7688" y="1700000"/>
            <a:ext cx="100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har char="•"/>
            </a:pPr>
            <a:r>
              <a:rPr sz="2400">
                <a:latin typeface="Calibri"/>
              </a:rPr>
              <a:t>Slides due: 4/13, 11:59pm | Present: 4/14 &amp; 4/17 | 520 pts (20%)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4-5 minutes, 4-6 slides, all team members present and speak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This is NOT a code walkthrough - pitch insights to stakeholders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Structure: title, problem &amp; dataset, approach (high-level), results, conclusions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Grading: content &amp; organization (300), communication (120), timing &amp; slides (100)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 5: Final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7688" y="1700000"/>
            <a:ext cx="100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har char="•"/>
            </a:pPr>
            <a:r>
              <a:rPr sz="2400">
                <a:latin typeface="Calibri"/>
              </a:rPr>
              <a:t>Due: 4/21, 11:59pm | 1,040 pts (40%)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4-8 pages including visualizations, double-spaced, PDF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Submit ZIP: report, all code files, data (reduce to 1,000 rows if large)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Sections: problem statement, data description, methods, results, future work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At least 3-4 meaningful visualizations with clear labels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Grading: content quality (600), analysis &amp; critical thinking (240), communication (200)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Peer Evaluations &amp; 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7688" y="1700000"/>
            <a:ext cx="100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har char="•"/>
            </a:pPr>
            <a:r>
              <a:rPr sz="2400">
                <a:latin typeface="Calibri"/>
              </a:rPr>
              <a:t>Peer evaluations due 4/22 - required for all team members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Describe contributions and interactions of your teammates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Evaluations used to adjust individual grades (up or down, up to 50% impact)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Failure to submit peer evaluations = 50% deduction in your project score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Optional extra credit (up to 100 pts): individual reflection due 4/24</a:t>
            </a:r>
          </a:p>
          <a:p>
            <a:pPr marL="457200" indent="-457200">
              <a:buChar char="•"/>
            </a:pPr>
            <a:r>
              <a:rPr sz="2400">
                <a:latin typeface="Calibri"/>
              </a:rPr>
              <a:t>Reflection: what you learned, how you contributed, what you'd do differently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Let's Form Teams!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7688" y="1700000"/>
            <a:ext cx="10000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har char="•"/>
            </a:pPr>
            <a:r>
              <a:rPr sz="2400" dirty="0">
                <a:latin typeface="Calibri"/>
              </a:rPr>
              <a:t>Section 3 has 17 students - looking for 5-8 teams</a:t>
            </a:r>
          </a:p>
          <a:p>
            <a:pPr marL="457200" indent="-457200">
              <a:buChar char="•"/>
            </a:pPr>
            <a:r>
              <a:rPr sz="2400" dirty="0">
                <a:latin typeface="Calibri"/>
              </a:rPr>
              <a:t>Rest of today's class: brainstorm project ideas and find teammates</a:t>
            </a:r>
          </a:p>
          <a:p>
            <a:pPr marL="457200" indent="-457200">
              <a:buChar char="•"/>
            </a:pPr>
            <a:r>
              <a:rPr sz="2400" dirty="0">
                <a:latin typeface="Calibri"/>
              </a:rPr>
              <a:t>Next lab session: also dedicated to team formation and brainstorming</a:t>
            </a:r>
          </a:p>
          <a:p>
            <a:pPr marL="457200" indent="-457200">
              <a:buChar char="•"/>
            </a:pPr>
            <a:r>
              <a:rPr sz="2400" dirty="0">
                <a:latin typeface="Calibri"/>
              </a:rPr>
              <a:t>Option 1: Find teammates on your own (must be from this section)</a:t>
            </a:r>
          </a:p>
          <a:p>
            <a:pPr marL="457200" indent="-457200">
              <a:buChar char="•"/>
            </a:pPr>
            <a:r>
              <a:rPr sz="2400" dirty="0">
                <a:latin typeface="Calibri"/>
              </a:rPr>
              <a:t>Option 2: Fill the Google Form by 2/11 11:59pm for random assignment</a:t>
            </a:r>
            <a:endParaRPr lang="en-US" sz="2400" dirty="0">
              <a:latin typeface="Calibri"/>
            </a:endParaRPr>
          </a:p>
          <a:p>
            <a:pPr marL="914400" lvl="1" indent="-457200">
              <a:buChar char="•"/>
            </a:pPr>
            <a:r>
              <a:rPr sz="2400" dirty="0">
                <a:latin typeface="Calibri"/>
              </a:rPr>
              <a:t>If you fill the form, you commit to the team we assign</a:t>
            </a:r>
            <a:endParaRPr lang="en-US" sz="2400" dirty="0">
              <a:latin typeface="Calibri"/>
            </a:endParaRPr>
          </a:p>
          <a:p>
            <a:pPr marL="914400" lvl="1" indent="-457200">
              <a:buChar char="•"/>
            </a:pPr>
            <a:r>
              <a:rPr sz="2400" dirty="0">
                <a:latin typeface="Calibri"/>
              </a:rPr>
              <a:t>Assignments sent via email by 2/12</a:t>
            </a:r>
          </a:p>
          <a:p>
            <a:pPr marL="457200" indent="-457200">
              <a:buChar char="•"/>
            </a:pPr>
            <a:r>
              <a:rPr sz="2400" dirty="0">
                <a:latin typeface="Calibri"/>
              </a:rPr>
              <a:t>Milestone 1 (team + topic report) due 2/20 - start early!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7688" y="1700000"/>
            <a:ext cx="10000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har char="•"/>
            </a:pPr>
            <a:r>
              <a:rPr sz="2400" dirty="0">
                <a:latin typeface="Calibri"/>
              </a:rPr>
              <a:t>Talk to classmates, start brainstorming</a:t>
            </a:r>
          </a:p>
          <a:p>
            <a:pPr marL="457200" indent="-457200">
              <a:buChar char="•"/>
            </a:pPr>
            <a:r>
              <a:rPr sz="2400" dirty="0">
                <a:latin typeface="Calibri"/>
              </a:rPr>
              <a:t>Visit office hours for project idea feedback</a:t>
            </a:r>
          </a:p>
          <a:p>
            <a:pPr marL="457200" indent="-457200">
              <a:buChar char="•"/>
            </a:pPr>
            <a:r>
              <a:rPr sz="2400" dirty="0">
                <a:latin typeface="Calibri"/>
              </a:rPr>
              <a:t>Email </a:t>
            </a:r>
            <a:r>
              <a:rPr lang="en-US" sz="2400">
                <a:latin typeface="Calibri"/>
              </a:rPr>
              <a:t>me </a:t>
            </a:r>
            <a:r>
              <a:rPr sz="2400">
                <a:latin typeface="Calibri"/>
              </a:rPr>
              <a:t>with </a:t>
            </a:r>
            <a:r>
              <a:rPr sz="2400" dirty="0">
                <a:latin typeface="Calibri"/>
              </a:rPr>
              <a:t>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23352</TotalTime>
  <Words>1449</Words>
  <Application>Microsoft Macintosh PowerPoint</Application>
  <PresentationFormat>Widescreen</PresentationFormat>
  <Paragraphs>179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 DS2500 Intermediate Programming with Data Section 3   Lecture 9
 Class Project Kickoff
  2/6/2026</vt:lpstr>
      <vt:lpstr>The Class Project: Overview</vt:lpstr>
      <vt:lpstr>Teams</vt:lpstr>
      <vt:lpstr>Project Scope &amp; Expectations</vt:lpstr>
      <vt:lpstr>Grading &amp; Evaluation</vt:lpstr>
      <vt:lpstr>Key Dates &amp; Deliverables</vt:lpstr>
      <vt:lpstr>Finding a Dataset</vt:lpstr>
      <vt:lpstr>Why Not Kaggle?</vt:lpstr>
      <vt:lpstr>Past Project: Wildfires in California</vt:lpstr>
      <vt:lpstr>Past Project: Eviction Rate Analysis</vt:lpstr>
      <vt:lpstr>Past Project: Diabetes Analysis</vt:lpstr>
      <vt:lpstr>Past Project: NFL and Weather</vt:lpstr>
      <vt:lpstr>More Topic Ideas</vt:lpstr>
      <vt:lpstr>Milestone 1: Team Formation &amp; Topic</vt:lpstr>
      <vt:lpstr>Milestone 2: Proposal</vt:lpstr>
      <vt:lpstr>Milestone 3: Progress Report</vt:lpstr>
      <vt:lpstr>Milestone 4: Presentation</vt:lpstr>
      <vt:lpstr>Milestone 5: Final Report</vt:lpstr>
      <vt:lpstr>Peer Evaluations &amp; Reflection</vt:lpstr>
      <vt:lpstr>Let's Form Teams!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Gyori, Benjamin</dc:creator>
  <cp:lastModifiedBy>Gyori, Benjamin</cp:lastModifiedBy>
  <cp:revision>877</cp:revision>
  <dcterms:created xsi:type="dcterms:W3CDTF">2023-08-30T01:11:41Z</dcterms:created>
  <dcterms:modified xsi:type="dcterms:W3CDTF">2026-02-09T03:30:41Z</dcterms:modified>
</cp:coreProperties>
</file>